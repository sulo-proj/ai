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75" r:id="rId6"/>
    <p:sldId id="271" r:id="rId7"/>
    <p:sldId id="27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50"/>
            <a:ext cx="9155113" cy="686752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547813" y="1701800"/>
            <a:ext cx="6908800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547813" y="2927350"/>
            <a:ext cx="6913562" cy="1752600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74750"/>
            <a:ext cx="40386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74750"/>
            <a:ext cx="40386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90500"/>
            <a:ext cx="20574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90500"/>
            <a:ext cx="60198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457200" y="190500"/>
            <a:ext cx="8229600" cy="58261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457200" y="1174750"/>
            <a:ext cx="82296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rtl="0" fontAlgn="base">
        <a:spcBef>
          <a:spcPct val="0"/>
        </a:spcBef>
        <a:spcAft>
          <a:spcPct val="0"/>
        </a:spcAft>
        <a:defRPr sz="3600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r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4360" y="1078230"/>
            <a:ext cx="6682105" cy="2567940"/>
          </a:xfrm>
        </p:spPr>
        <p:txBody>
          <a:bodyPr/>
          <a:lstStyle/>
          <a:p>
            <a:pPr algn="ctr"/>
            <a:r>
              <a:rPr lang="en-IN" altLang="en-US" sz="4400"/>
              <a:t>F</a:t>
            </a:r>
            <a:r>
              <a:rPr lang="en-US" altLang="en-GB" sz="4400"/>
              <a:t>inancial </a:t>
            </a:r>
            <a:r>
              <a:rPr lang="en-IN" altLang="en-US" sz="4400"/>
              <a:t>N</a:t>
            </a:r>
            <a:r>
              <a:rPr lang="en-US" altLang="en-GB" sz="4400"/>
              <a:t>ews </a:t>
            </a:r>
            <a:r>
              <a:rPr lang="en-IN" altLang="en-US" sz="4400"/>
              <a:t>I</a:t>
            </a:r>
            <a:r>
              <a:rPr lang="en-US" altLang="en-GB" sz="4400"/>
              <a:t>ntelligence</a:t>
            </a:r>
            <a:r>
              <a:rPr lang="en-IN" altLang="en-US" sz="4400"/>
              <a:t> S</a:t>
            </a:r>
            <a:r>
              <a:rPr lang="en-US" altLang="en-GB" sz="4400"/>
              <a:t>ystem</a:t>
            </a:r>
            <a:endParaRPr lang="en-US" altLang="en-GB" sz="4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98650"/>
            <a:ext cx="8229600" cy="3649980"/>
          </a:xfrm>
        </p:spPr>
        <p:txBody>
          <a:bodyPr/>
          <a:lstStyle/>
          <a:p>
            <a:r>
              <a:rPr lang="en-US" altLang="en-GB"/>
              <a:t>Financial news is high volume and unstructured.</a:t>
            </a:r>
            <a:endParaRPr lang="en-US" altLang="en-GB"/>
          </a:p>
          <a:p>
            <a:r>
              <a:rPr lang="en-US" altLang="en-GB"/>
              <a:t>Manually identifying impactful news is slow and subjective.</a:t>
            </a:r>
            <a:endParaRPr lang="en-US" altLang="en-GB"/>
          </a:p>
          <a:p>
            <a:r>
              <a:rPr lang="en-US" altLang="en-GB"/>
              <a:t>There is no quick way to filter what actually matters.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65375"/>
            <a:ext cx="8229600" cy="2673985"/>
          </a:xfrm>
        </p:spPr>
        <p:txBody>
          <a:bodyPr/>
          <a:lstStyle/>
          <a:p>
            <a:r>
              <a:rPr>
                <a:sym typeface="+mn-ea"/>
              </a:rPr>
              <a:t>Using NLP &amp; Machine Learning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Automate </a:t>
            </a:r>
            <a:r>
              <a:rPr lang="en-IN">
                <a:sym typeface="+mn-ea"/>
              </a:rPr>
              <a:t>T</a:t>
            </a:r>
            <a:r>
              <a:rPr>
                <a:sym typeface="+mn-ea"/>
              </a:rPr>
              <a:t>opic detection</a:t>
            </a:r>
            <a:endParaRPr>
              <a:sym typeface="+mn-ea"/>
            </a:endParaRPr>
          </a:p>
          <a:p>
            <a:r>
              <a:rPr lang="en-IN">
                <a:sym typeface="+mn-ea"/>
              </a:rPr>
              <a:t>Classify</a:t>
            </a:r>
            <a:r>
              <a:rPr>
                <a:sym typeface="+mn-ea"/>
              </a:rPr>
              <a:t> </a:t>
            </a:r>
            <a:r>
              <a:rPr lang="en-IN">
                <a:sym typeface="+mn-ea"/>
              </a:rPr>
              <a:t>N</a:t>
            </a:r>
            <a:r>
              <a:rPr>
                <a:sym typeface="+mn-ea"/>
              </a:rPr>
              <a:t>ews impact</a:t>
            </a:r>
            <a:endParaRPr>
              <a:sym typeface="+mn-ea"/>
            </a:endParaRPr>
          </a:p>
          <a:p>
            <a:pPr marL="0" indent="0">
              <a:buNone/>
            </a:p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 &amp;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7175"/>
            <a:ext cx="8229600" cy="4481195"/>
          </a:xfrm>
        </p:spPr>
        <p:txBody>
          <a:bodyPr/>
          <a:lstStyle/>
          <a:p>
            <a:r>
              <a:t>Preprocessing: cleaning, tokenization, lemmatization</a:t>
            </a:r>
          </a:p>
          <a:p>
            <a:r>
              <a:t>Topic Modeling: TF-IDF + NMF (selected via coherence)</a:t>
            </a:r>
          </a:p>
          <a:p>
            <a:r>
              <a:t>Clustering: KMeans for grouping</a:t>
            </a:r>
          </a:p>
          <a:p>
            <a:r>
              <a:t>Impact Classification: rule-based NLP</a:t>
            </a:r>
          </a:p>
          <a:p>
            <a:r>
              <a:t>ML Models: Logistic Regression, SVM, Naive Bayes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93950"/>
            <a:ext cx="8229600" cy="2779395"/>
          </a:xfrm>
        </p:spPr>
        <p:txBody>
          <a:bodyPr/>
          <a:lstStyle/>
          <a:p>
            <a:r>
              <a:t>Rule-based </a:t>
            </a:r>
            <a:r>
              <a:rPr lang="en-IN"/>
              <a:t>I</a:t>
            </a:r>
            <a:r>
              <a:t>mpact classification</a:t>
            </a:r>
          </a:p>
          <a:p>
            <a:r>
              <a:t>Static </a:t>
            </a:r>
            <a:r>
              <a:rPr lang="en-IN"/>
              <a:t>T</a:t>
            </a:r>
            <a:r>
              <a:t>opic labels</a:t>
            </a:r>
          </a:p>
          <a:p>
            <a:r>
              <a:t>No real-time data ingestion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36800"/>
            <a:ext cx="8229600" cy="3248025"/>
          </a:xfrm>
        </p:spPr>
        <p:txBody>
          <a:bodyPr/>
          <a:lstStyle/>
          <a:p>
            <a:r>
              <a:rPr lang="en-US" altLang="en-GB"/>
              <a:t>Replace rule-based logic with ML/LLM models</a:t>
            </a:r>
            <a:endParaRPr lang="en-US" altLang="en-GB"/>
          </a:p>
          <a:p>
            <a:r>
              <a:t>Real-time news API integration</a:t>
            </a:r>
          </a:p>
          <a:p>
            <a:r>
              <a:rPr lang="en-US" altLang="en-GB"/>
              <a:t>Deploy as real-time monitoring system</a:t>
            </a:r>
            <a:endParaRPr lang="en-US" altLang="en-GB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theme/theme1.xml><?xml version="1.0" encoding="utf-8"?>
<a:theme xmlns:a="http://schemas.openxmlformats.org/drawingml/2006/main" name="Communications and Dialogues">
  <a:themeElements>
    <a:clrScheme name="Communications and Dialogu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66CC"/>
      </a:accent1>
      <a:accent2>
        <a:srgbClr val="3399FF"/>
      </a:accent2>
      <a:accent3>
        <a:srgbClr val="FFFFFF"/>
      </a:accent3>
      <a:accent4>
        <a:srgbClr val="000000"/>
      </a:accent4>
      <a:accent5>
        <a:srgbClr val="AAB8E2"/>
      </a:accent5>
      <a:accent6>
        <a:srgbClr val="2D8AE7"/>
      </a:accent6>
      <a:hlink>
        <a:srgbClr val="CC3300"/>
      </a:hlink>
      <a:folHlink>
        <a:srgbClr val="996600"/>
      </a:folHlink>
    </a:clrScheme>
    <a:fontScheme name="Communications and Dialogu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Communications and Dialogu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munications and Dialogu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munications and Dialogu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munications and Dialogu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munications and Dialogu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mmunications and Dialogu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mmunications and Dialogu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66CC"/>
        </a:accent1>
        <a:accent2>
          <a:srgbClr val="3399FF"/>
        </a:accent2>
        <a:accent3>
          <a:srgbClr val="FFFFFF"/>
        </a:accent3>
        <a:accent4>
          <a:srgbClr val="000000"/>
        </a:accent4>
        <a:accent5>
          <a:srgbClr val="AAB8E2"/>
        </a:accent5>
        <a:accent6>
          <a:srgbClr val="2D8AE7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750</Words>
  <Application>WPS Presentation</Application>
  <PresentationFormat>On-screen Show (4:3)</PresentationFormat>
  <Paragraphs>35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Communications and Dialogues</vt:lpstr>
      <vt:lpstr>Financial News Intelligence System</vt:lpstr>
      <vt:lpstr>Problem Statement</vt:lpstr>
      <vt:lpstr>Objective</vt:lpstr>
      <vt:lpstr>Approach &amp; Pipeline</vt:lpstr>
      <vt:lpstr>Limitations</vt:lpstr>
      <vt:lpstr>Future Enhancements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Sulochana Sivasubramaniam</cp:lastModifiedBy>
  <cp:revision>8</cp:revision>
  <dcterms:created xsi:type="dcterms:W3CDTF">2013-01-27T09:14:00Z</dcterms:created>
  <dcterms:modified xsi:type="dcterms:W3CDTF">2026-04-13T07:58:59Z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296666148E0246909EA8BD845E94029F_12</vt:lpwstr>
  </property>
  <property fmtid="{D5CDD505-2E9C-101B-9397-08002B2CF9AE}" pid="3" name="KSOProductBuildVer">
    <vt:lpwstr>2057-12.2.0.23201</vt:lpwstr>
  </property>
</Properties>
</file>